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5" y="1676802"/>
            <a:ext cx="6497119" cy="47174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SIH2026227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  </a:t>
            </a:r>
          </a:p>
          <a:p>
            <a:pPr algn="just">
              <a:lnSpc>
                <a:spcPct val="10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IN" sz="2000" b="1" dirty="0"/>
              <a:t>Semantic Retrieval and Multi-Temporal Change        Analysis of Satellite </a:t>
            </a:r>
            <a:r>
              <a:rPr lang="en-IN" sz="2000" b="1" dirty="0" err="1"/>
              <a:t>lmagery</a:t>
            </a:r>
            <a:endParaRPr lang="en-IN" sz="2000" b="1" dirty="0"/>
          </a:p>
          <a:p>
            <a:pPr algn="just">
              <a:lnSpc>
                <a:spcPct val="100000"/>
              </a:lnSpc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2000" b="1" dirty="0"/>
              <a:t>Space Technology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portal): FLUX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499" name="Badge499"/>
          <p:cNvSpPr/>
          <p:nvPr/>
        </p:nvSpPr>
        <p:spPr>
          <a:xfrm>
            <a:off x="304800" y="1828800"/>
            <a:ext cx="11277599" cy="480000"/>
          </a:xfrm>
          <a:prstGeom prst="roundRect">
            <a:avLst>
              <a:gd name="adj" fmla="val 16000"/>
            </a:avLst>
          </a:prstGeom>
          <a:solidFill>
            <a:srgbClr val="0070C0"/>
          </a:solidFill>
          <a:ln>
            <a:noFill/>
          </a:ln>
          <a:effectLst>
            <a:outerShdw blurRad="90000" dist="30000" dir="5400000" rotWithShape="0">
              <a:srgbClr val="6B7280">
                <a:alpha val="22000"/>
              </a:srgbClr>
            </a:outerShdw>
          </a:effectLst>
        </p:spPr>
        <p:txBody>
          <a:bodyPr lIns="182880" rIns="182880" anchor="ctr"/>
          <a:lstStyle/>
          <a:p>
            <a:pPr algn="l"/>
            <a:r>
              <a:rPr lang="en-US" sz="17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BhuNetra — Offline Semantic Search &amp; Change-Intelligence Platform</a:t>
            </a:r>
          </a:p>
        </p:txBody>
      </p:sp>
      <p:sp>
        <p:nvSpPr>
          <p:cNvPr id="500" name="Card500"/>
          <p:cNvSpPr/>
          <p:nvPr/>
        </p:nvSpPr>
        <p:spPr>
          <a:xfrm>
            <a:off x="304800" y="2458800"/>
            <a:ext cx="11277599" cy="1178654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>
            <a:outerShdw blurRad="90000" dist="30000" dir="5400000" rotWithShape="0">
              <a:srgbClr val="6B728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1" name="Circ501"/>
          <p:cNvSpPr/>
          <p:nvPr/>
        </p:nvSpPr>
        <p:spPr>
          <a:xfrm>
            <a:off x="454800" y="2808127"/>
            <a:ext cx="480000" cy="480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90000" dist="30000" dir="5400000" rotWithShape="0">
              <a:srgbClr val="6B7280">
                <a:alpha val="22000"/>
              </a:srgbClr>
            </a:outerShdw>
          </a:effectLst>
        </p:spPr>
        <p:txBody>
          <a:bodyPr lIns="0" tIns="0" rIns="0" bIns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1</a:t>
            </a:r>
          </a:p>
        </p:txBody>
      </p:sp>
      <p:sp>
        <p:nvSpPr>
          <p:cNvPr id="502" name="Hdr502"/>
          <p:cNvSpPr txBox="1"/>
          <p:nvPr/>
        </p:nvSpPr>
        <p:spPr>
          <a:xfrm>
            <a:off x="1064800" y="2548800"/>
            <a:ext cx="10367599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en-US" sz="1600" b="1" dirty="0">
                <a:solidFill>
                  <a:srgbClr val="1B2A4A"/>
                </a:solidFill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</p:txBody>
      </p:sp>
      <p:sp>
        <p:nvSpPr>
          <p:cNvPr id="503" name="Body503"/>
          <p:cNvSpPr txBox="1"/>
          <p:nvPr/>
        </p:nvSpPr>
        <p:spPr>
          <a:xfrm>
            <a:off x="1064800" y="2878800"/>
            <a:ext cx="10367599" cy="69865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228600" indent="-2286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Text or image query → ranked, evidence-backed locations with flagged changes</a:t>
            </a:r>
          </a:p>
          <a:p>
            <a:pPr marL="228600" indent="-2286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Full offline pipeline validated on Sentinel-1/2, Landsat &amp; Bhuvan — all 15 milestones complete</a:t>
            </a:r>
          </a:p>
        </p:txBody>
      </p:sp>
      <p:sp>
        <p:nvSpPr>
          <p:cNvPr id="504" name="Card504"/>
          <p:cNvSpPr/>
          <p:nvPr/>
        </p:nvSpPr>
        <p:spPr>
          <a:xfrm>
            <a:off x="304800" y="3767454"/>
            <a:ext cx="11277599" cy="1178654"/>
          </a:xfrm>
          <a:prstGeom prst="roundRect">
            <a:avLst>
              <a:gd name="adj" fmla="val 6000"/>
            </a:avLst>
          </a:prstGeom>
          <a:solidFill>
            <a:srgbClr val="FCEEE0"/>
          </a:solidFill>
          <a:ln>
            <a:noFill/>
          </a:ln>
          <a:effectLst>
            <a:outerShdw blurRad="90000" dist="30000" dir="5400000" rotWithShape="0">
              <a:srgbClr val="6B728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5" name="Circ505"/>
          <p:cNvSpPr/>
          <p:nvPr/>
        </p:nvSpPr>
        <p:spPr>
          <a:xfrm>
            <a:off x="454800" y="4116781"/>
            <a:ext cx="480000" cy="480000"/>
          </a:xfrm>
          <a:prstGeom prst="ellipse">
            <a:avLst/>
          </a:prstGeom>
          <a:solidFill>
            <a:srgbClr val="D9720C"/>
          </a:solidFill>
          <a:ln>
            <a:noFill/>
          </a:ln>
          <a:effectLst>
            <a:outerShdw blurRad="90000" dist="30000" dir="5400000" rotWithShape="0">
              <a:srgbClr val="6B7280">
                <a:alpha val="22000"/>
              </a:srgbClr>
            </a:outerShdw>
          </a:effectLst>
        </p:spPr>
        <p:txBody>
          <a:bodyPr lIns="0" tIns="0" rIns="0" bIns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506" name="Hdr506"/>
          <p:cNvSpPr txBox="1"/>
          <p:nvPr/>
        </p:nvSpPr>
        <p:spPr>
          <a:xfrm>
            <a:off x="1064800" y="3857454"/>
            <a:ext cx="10367599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en-US" sz="1600" b="1" dirty="0">
                <a:solidFill>
                  <a:srgbClr val="1B2A4A"/>
                </a:solidFill>
                <a:latin typeface="Arial" pitchFamily="34" charset="0"/>
                <a:cs typeface="Arial" pitchFamily="34" charset="0"/>
              </a:rPr>
              <a:t>How it addresses the problem</a:t>
            </a:r>
          </a:p>
        </p:txBody>
      </p:sp>
      <p:sp>
        <p:nvSpPr>
          <p:cNvPr id="507" name="Body507"/>
          <p:cNvSpPr txBox="1"/>
          <p:nvPr/>
        </p:nvSpPr>
        <p:spPr>
          <a:xfrm>
            <a:off x="1064800" y="4187454"/>
            <a:ext cx="10367599" cy="69865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228600" indent="-2286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Multimodal search + AOI/date/sensor filters; detects construction, clearance, water &amp; road change</a:t>
            </a:r>
          </a:p>
          <a:p>
            <a:pPr marL="228600" indent="-2286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Confidence-scored, quality-masked outputs suppress false alarms; full provenance &amp; audit trail</a:t>
            </a:r>
          </a:p>
        </p:txBody>
      </p:sp>
      <p:sp>
        <p:nvSpPr>
          <p:cNvPr id="508" name="Card508"/>
          <p:cNvSpPr/>
          <p:nvPr/>
        </p:nvSpPr>
        <p:spPr>
          <a:xfrm>
            <a:off x="304800" y="5076108"/>
            <a:ext cx="11277599" cy="1178654"/>
          </a:xfrm>
          <a:prstGeom prst="roundRect">
            <a:avLst>
              <a:gd name="adj" fmla="val 6000"/>
            </a:avLst>
          </a:prstGeom>
          <a:solidFill>
            <a:srgbClr val="E8F5EC"/>
          </a:solidFill>
          <a:ln>
            <a:noFill/>
          </a:ln>
          <a:effectLst>
            <a:outerShdw blurRad="90000" dist="30000" dir="5400000" rotWithShape="0">
              <a:srgbClr val="6B728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9" name="Circ509"/>
          <p:cNvSpPr/>
          <p:nvPr/>
        </p:nvSpPr>
        <p:spPr>
          <a:xfrm>
            <a:off x="454800" y="5425435"/>
            <a:ext cx="480000" cy="480000"/>
          </a:xfrm>
          <a:prstGeom prst="ellipse">
            <a:avLst/>
          </a:prstGeom>
          <a:solidFill>
            <a:srgbClr val="1E8449"/>
          </a:solidFill>
          <a:ln>
            <a:noFill/>
          </a:ln>
          <a:effectLst>
            <a:outerShdw blurRad="90000" dist="30000" dir="5400000" rotWithShape="0">
              <a:srgbClr val="6B7280">
                <a:alpha val="22000"/>
              </a:srgbClr>
            </a:outerShdw>
          </a:effectLst>
        </p:spPr>
        <p:txBody>
          <a:bodyPr lIns="0" tIns="0" rIns="0" bIns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3</a:t>
            </a:r>
          </a:p>
        </p:txBody>
      </p:sp>
      <p:sp>
        <p:nvSpPr>
          <p:cNvPr id="510" name="Hdr510"/>
          <p:cNvSpPr txBox="1"/>
          <p:nvPr/>
        </p:nvSpPr>
        <p:spPr>
          <a:xfrm>
            <a:off x="1064800" y="5166108"/>
            <a:ext cx="10367599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en-US" sz="1600" b="1" dirty="0">
                <a:solidFill>
                  <a:srgbClr val="1B2A4A"/>
                </a:solidFill>
                <a:latin typeface="Arial" pitchFamily="34" charset="0"/>
                <a:cs typeface="Arial" pitchFamily="34" charset="0"/>
              </a:rPr>
              <a:t>Innovation and uniqueness of the solution</a:t>
            </a:r>
          </a:p>
        </p:txBody>
      </p:sp>
      <p:sp>
        <p:nvSpPr>
          <p:cNvPr id="511" name="Body511"/>
          <p:cNvSpPr txBox="1"/>
          <p:nvPr/>
        </p:nvSpPr>
        <p:spPr>
          <a:xfrm>
            <a:off x="1064800" y="5496108"/>
            <a:ext cx="10367599" cy="69865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228600" indent="-2286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“Search first, verify second” — retrieval narrows the archive before costly temporal analysis</a:t>
            </a:r>
          </a:p>
          <a:p>
            <a:pPr marL="228600" indent="-2286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One embedding space (optical+SAR) powers text, image &amp; location-based search with analyst feedback</a:t>
            </a:r>
          </a:p>
        </p:txBody>
      </p:sp>
      <p:sp>
        <p:nvSpPr>
          <p:cNvPr id="699" name="AccentRule699"/>
          <p:cNvSpPr/>
          <p:nvPr/>
        </p:nvSpPr>
        <p:spPr>
          <a:xfrm>
            <a:off x="5596000" y="1150000"/>
            <a:ext cx="1000000" cy="3000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FLUX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500" name="TechCard"/>
          <p:cNvSpPr/>
          <p:nvPr/>
        </p:nvSpPr>
        <p:spPr>
          <a:xfrm>
            <a:off x="304800" y="1828800"/>
            <a:ext cx="11277599" cy="9000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>
            <a:outerShdw blurRad="90000" dist="30000" dir="5400000" rotWithShape="0">
              <a:srgbClr val="6B728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1" name="TechCirc"/>
          <p:cNvSpPr/>
          <p:nvPr/>
        </p:nvSpPr>
        <p:spPr>
          <a:xfrm>
            <a:off x="454800" y="2068800"/>
            <a:ext cx="420000" cy="420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90000" dist="30000" dir="5400000" rotWithShape="0">
              <a:srgbClr val="6B7280">
                <a:alpha val="22000"/>
              </a:srgbClr>
            </a:outerShdw>
          </a:effectLst>
        </p:spPr>
        <p:txBody>
          <a:bodyPr lIns="0" tIns="0" rIns="0" bIns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1</a:t>
            </a:r>
          </a:p>
        </p:txBody>
      </p:sp>
      <p:sp>
        <p:nvSpPr>
          <p:cNvPr id="502" name="TechHdr"/>
          <p:cNvSpPr txBox="1"/>
          <p:nvPr/>
        </p:nvSpPr>
        <p:spPr>
          <a:xfrm>
            <a:off x="1004800" y="1898800"/>
            <a:ext cx="10427599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en-US" sz="1450" b="1" dirty="0">
                <a:solidFill>
                  <a:srgbClr val="1B2A4A"/>
                </a:solidFill>
                <a:latin typeface="Arial" pitchFamily="34" charset="0"/>
                <a:cs typeface="Arial" pitchFamily="34" charset="0"/>
              </a:rPr>
              <a:t>Technologies to be used</a:t>
            </a:r>
          </a:p>
        </p:txBody>
      </p:sp>
      <p:sp>
        <p:nvSpPr>
          <p:cNvPr id="503" name="TechBody"/>
          <p:cNvSpPr txBox="1"/>
          <p:nvPr/>
        </p:nvSpPr>
        <p:spPr>
          <a:xfrm>
            <a:off x="1004800" y="2198800"/>
            <a:ext cx="10427599" cy="4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228600" indent="-2286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Python, PyTorch, GDAL/Rasterio, GeoTIFF/COG · Clay / Prithvi-EO-2.0 + RS-CLIP embeddings</a:t>
            </a:r>
          </a:p>
          <a:p>
            <a:pPr marL="228600" indent="-2286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FAISS/Qdrant incremental vector index + SQLite/PostGIS · Streamlit UI · 45+ automated tests</a:t>
            </a:r>
          </a:p>
        </p:txBody>
      </p:sp>
      <p:sp>
        <p:nvSpPr>
          <p:cNvPr id="504" name="MethLbl"/>
          <p:cNvSpPr txBox="1"/>
          <p:nvPr/>
        </p:nvSpPr>
        <p:spPr>
          <a:xfrm>
            <a:off x="304800" y="2858800"/>
            <a:ext cx="11277599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en-US" sz="1350" b="1" dirty="0">
                <a:solidFill>
                  <a:srgbClr val="1B2A4A"/>
                </a:solidFill>
                <a:latin typeface="Arial" pitchFamily="34" charset="0"/>
                <a:cs typeface="Arial" pitchFamily="34" charset="0"/>
              </a:rPr>
              <a:t>Methodology — full 16-milestone pipeline (M0–M15), validated end-to-end</a:t>
            </a:r>
          </a:p>
        </p:txBody>
      </p:sp>
      <p:sp>
        <p:nvSpPr>
          <p:cNvPr id="520" name="PhaseLbl520"/>
          <p:cNvSpPr txBox="1"/>
          <p:nvPr/>
        </p:nvSpPr>
        <p:spPr>
          <a:xfrm>
            <a:off x="304800" y="3178800"/>
            <a:ext cx="11277599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/>
            <a:r>
              <a:rPr lang="en-US" sz="105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Phase 1 · Data Foundation (M0–M3)</a:t>
            </a:r>
          </a:p>
        </p:txBody>
      </p:sp>
      <p:sp>
        <p:nvSpPr>
          <p:cNvPr id="521" name="Pill521"/>
          <p:cNvSpPr/>
          <p:nvPr/>
        </p:nvSpPr>
        <p:spPr>
          <a:xfrm>
            <a:off x="304800" y="3378800"/>
            <a:ext cx="2669399" cy="36000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>
            <a:outerShdw blurRad="90000" dist="30000" dir="5400000" rotWithShape="0">
              <a:srgbClr val="6B7280">
                <a:alpha val="22000"/>
              </a:srgbClr>
            </a:outerShdw>
          </a:effectLst>
        </p:spPr>
        <p:txBody>
          <a:bodyPr lIns="18288" tIns="9144" rIns="18288" bIns="9144" anchor="ctr">
            <a:normAutofit/>
          </a:bodyPr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M0 Alignment</a:t>
            </a:r>
          </a:p>
        </p:txBody>
      </p:sp>
      <p:sp>
        <p:nvSpPr>
          <p:cNvPr id="522" name="Arr522"/>
          <p:cNvSpPr txBox="1"/>
          <p:nvPr/>
        </p:nvSpPr>
        <p:spPr>
          <a:xfrm>
            <a:off x="2974199" y="3378800"/>
            <a:ext cx="200000" cy="36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→</a:t>
            </a:r>
          </a:p>
        </p:txBody>
      </p:sp>
      <p:sp>
        <p:nvSpPr>
          <p:cNvPr id="523" name="Pill523"/>
          <p:cNvSpPr/>
          <p:nvPr/>
        </p:nvSpPr>
        <p:spPr>
          <a:xfrm>
            <a:off x="3174199" y="3378800"/>
            <a:ext cx="2669399" cy="36000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>
            <a:outerShdw blurRad="90000" dist="30000" dir="5400000" rotWithShape="0">
              <a:srgbClr val="6B7280">
                <a:alpha val="22000"/>
              </a:srgbClr>
            </a:outerShdw>
          </a:effectLst>
        </p:spPr>
        <p:txBody>
          <a:bodyPr lIns="18288" tIns="9144" rIns="18288" bIns="9144" anchor="ctr">
            <a:normAutofit/>
          </a:bodyPr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M1 Ingestion</a:t>
            </a:r>
          </a:p>
        </p:txBody>
      </p:sp>
      <p:sp>
        <p:nvSpPr>
          <p:cNvPr id="524" name="Arr524"/>
          <p:cNvSpPr txBox="1"/>
          <p:nvPr/>
        </p:nvSpPr>
        <p:spPr>
          <a:xfrm>
            <a:off x="5843598" y="3378800"/>
            <a:ext cx="200000" cy="36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→</a:t>
            </a:r>
          </a:p>
        </p:txBody>
      </p:sp>
      <p:sp>
        <p:nvSpPr>
          <p:cNvPr id="525" name="Pill525"/>
          <p:cNvSpPr/>
          <p:nvPr/>
        </p:nvSpPr>
        <p:spPr>
          <a:xfrm>
            <a:off x="6043598" y="3378800"/>
            <a:ext cx="2669399" cy="36000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>
            <a:outerShdw blurRad="90000" dist="30000" dir="5400000" rotWithShape="0">
              <a:srgbClr val="6B7280">
                <a:alpha val="22000"/>
              </a:srgbClr>
            </a:outerShdw>
          </a:effectLst>
        </p:spPr>
        <p:txBody>
          <a:bodyPr lIns="18288" tIns="9144" rIns="18288" bIns="9144" anchor="ctr">
            <a:normAutofit/>
          </a:bodyPr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M2 Tiling+Meta</a:t>
            </a:r>
          </a:p>
        </p:txBody>
      </p:sp>
      <p:sp>
        <p:nvSpPr>
          <p:cNvPr id="526" name="Arr526"/>
          <p:cNvSpPr txBox="1"/>
          <p:nvPr/>
        </p:nvSpPr>
        <p:spPr>
          <a:xfrm>
            <a:off x="8712997" y="3378800"/>
            <a:ext cx="200000" cy="36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→</a:t>
            </a:r>
          </a:p>
        </p:txBody>
      </p:sp>
      <p:sp>
        <p:nvSpPr>
          <p:cNvPr id="527" name="Pill527"/>
          <p:cNvSpPr/>
          <p:nvPr/>
        </p:nvSpPr>
        <p:spPr>
          <a:xfrm>
            <a:off x="8912997" y="3378800"/>
            <a:ext cx="2669399" cy="36000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>
            <a:outerShdw blurRad="90000" dist="30000" dir="5400000" rotWithShape="0">
              <a:srgbClr val="6B7280">
                <a:alpha val="22000"/>
              </a:srgbClr>
            </a:outerShdw>
          </a:effectLst>
        </p:spPr>
        <p:txBody>
          <a:bodyPr lIns="18288" tIns="9144" rIns="18288" bIns="9144" anchor="ctr">
            <a:normAutofit/>
          </a:bodyPr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M3 Embeddings</a:t>
            </a:r>
          </a:p>
        </p:txBody>
      </p:sp>
      <p:sp>
        <p:nvSpPr>
          <p:cNvPr id="528" name="PhaseLbl528"/>
          <p:cNvSpPr txBox="1"/>
          <p:nvPr/>
        </p:nvSpPr>
        <p:spPr>
          <a:xfrm>
            <a:off x="304800" y="3848800"/>
            <a:ext cx="11277599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/>
            <a:r>
              <a:rPr lang="en-US" sz="1050" b="1" dirty="0">
                <a:solidFill>
                  <a:srgbClr val="D9720C"/>
                </a:solidFill>
                <a:latin typeface="Arial" pitchFamily="34" charset="0"/>
                <a:cs typeface="Arial" pitchFamily="34" charset="0"/>
              </a:rPr>
              <a:t>Phase 2 · Retrieval Engine (M4–M7)</a:t>
            </a:r>
          </a:p>
        </p:txBody>
      </p:sp>
      <p:sp>
        <p:nvSpPr>
          <p:cNvPr id="529" name="Pill529"/>
          <p:cNvSpPr/>
          <p:nvPr/>
        </p:nvSpPr>
        <p:spPr>
          <a:xfrm>
            <a:off x="304800" y="4048800"/>
            <a:ext cx="2669399" cy="360000"/>
          </a:xfrm>
          <a:prstGeom prst="roundRect">
            <a:avLst>
              <a:gd name="adj" fmla="val 50000"/>
            </a:avLst>
          </a:prstGeom>
          <a:solidFill>
            <a:srgbClr val="D9720C"/>
          </a:solidFill>
          <a:ln>
            <a:noFill/>
          </a:ln>
          <a:effectLst>
            <a:outerShdw blurRad="90000" dist="30000" dir="5400000" rotWithShape="0">
              <a:srgbClr val="6B7280">
                <a:alpha val="22000"/>
              </a:srgbClr>
            </a:outerShdw>
          </a:effectLst>
        </p:spPr>
        <p:txBody>
          <a:bodyPr lIns="18288" tIns="9144" rIns="18288" bIns="9144" anchor="ctr">
            <a:normAutofit/>
          </a:bodyPr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M4 Vector Search</a:t>
            </a:r>
          </a:p>
        </p:txBody>
      </p:sp>
      <p:sp>
        <p:nvSpPr>
          <p:cNvPr id="530" name="Arr530"/>
          <p:cNvSpPr txBox="1"/>
          <p:nvPr/>
        </p:nvSpPr>
        <p:spPr>
          <a:xfrm>
            <a:off x="2974199" y="4048800"/>
            <a:ext cx="200000" cy="36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D9720C"/>
                </a:solidFill>
                <a:latin typeface="Arial" pitchFamily="34" charset="0"/>
                <a:cs typeface="Arial" pitchFamily="34" charset="0"/>
              </a:rPr>
              <a:t>→</a:t>
            </a:r>
          </a:p>
        </p:txBody>
      </p:sp>
      <p:sp>
        <p:nvSpPr>
          <p:cNvPr id="531" name="Pill531"/>
          <p:cNvSpPr/>
          <p:nvPr/>
        </p:nvSpPr>
        <p:spPr>
          <a:xfrm>
            <a:off x="3174199" y="4048800"/>
            <a:ext cx="2669399" cy="360000"/>
          </a:xfrm>
          <a:prstGeom prst="roundRect">
            <a:avLst>
              <a:gd name="adj" fmla="val 50000"/>
            </a:avLst>
          </a:prstGeom>
          <a:solidFill>
            <a:srgbClr val="D9720C"/>
          </a:solidFill>
          <a:ln>
            <a:noFill/>
          </a:ln>
          <a:effectLst>
            <a:outerShdw blurRad="90000" dist="30000" dir="5400000" rotWithShape="0">
              <a:srgbClr val="6B7280">
                <a:alpha val="22000"/>
              </a:srgbClr>
            </a:outerShdw>
          </a:effectLst>
        </p:spPr>
        <p:txBody>
          <a:bodyPr lIns="18288" tIns="9144" rIns="18288" bIns="9144" anchor="ctr">
            <a:normAutofit/>
          </a:bodyPr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M5 Text→Image</a:t>
            </a:r>
          </a:p>
        </p:txBody>
      </p:sp>
      <p:sp>
        <p:nvSpPr>
          <p:cNvPr id="532" name="Arr532"/>
          <p:cNvSpPr txBox="1"/>
          <p:nvPr/>
        </p:nvSpPr>
        <p:spPr>
          <a:xfrm>
            <a:off x="5843598" y="4048800"/>
            <a:ext cx="200000" cy="36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D9720C"/>
                </a:solidFill>
                <a:latin typeface="Arial" pitchFamily="34" charset="0"/>
                <a:cs typeface="Arial" pitchFamily="34" charset="0"/>
              </a:rPr>
              <a:t>→</a:t>
            </a:r>
          </a:p>
        </p:txBody>
      </p:sp>
      <p:sp>
        <p:nvSpPr>
          <p:cNvPr id="533" name="Pill533"/>
          <p:cNvSpPr/>
          <p:nvPr/>
        </p:nvSpPr>
        <p:spPr>
          <a:xfrm>
            <a:off x="6043598" y="4048800"/>
            <a:ext cx="2669399" cy="360000"/>
          </a:xfrm>
          <a:prstGeom prst="roundRect">
            <a:avLst>
              <a:gd name="adj" fmla="val 50000"/>
            </a:avLst>
          </a:prstGeom>
          <a:solidFill>
            <a:srgbClr val="D9720C"/>
          </a:solidFill>
          <a:ln>
            <a:noFill/>
          </a:ln>
          <a:effectLst>
            <a:outerShdw blurRad="90000" dist="30000" dir="5400000" rotWithShape="0">
              <a:srgbClr val="6B7280">
                <a:alpha val="22000"/>
              </a:srgbClr>
            </a:outerShdw>
          </a:effectLst>
        </p:spPr>
        <p:txBody>
          <a:bodyPr lIns="18288" tIns="9144" rIns="18288" bIns="9144" anchor="ctr">
            <a:normAutofit/>
          </a:bodyPr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M6 Meta Filters</a:t>
            </a:r>
          </a:p>
        </p:txBody>
      </p:sp>
      <p:sp>
        <p:nvSpPr>
          <p:cNvPr id="534" name="Arr534"/>
          <p:cNvSpPr txBox="1"/>
          <p:nvPr/>
        </p:nvSpPr>
        <p:spPr>
          <a:xfrm>
            <a:off x="8712997" y="4048800"/>
            <a:ext cx="200000" cy="36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D9720C"/>
                </a:solidFill>
                <a:latin typeface="Arial" pitchFamily="34" charset="0"/>
                <a:cs typeface="Arial" pitchFamily="34" charset="0"/>
              </a:rPr>
              <a:t>→</a:t>
            </a:r>
          </a:p>
        </p:txBody>
      </p:sp>
      <p:sp>
        <p:nvSpPr>
          <p:cNvPr id="535" name="Pill535"/>
          <p:cNvSpPr/>
          <p:nvPr/>
        </p:nvSpPr>
        <p:spPr>
          <a:xfrm>
            <a:off x="8912997" y="4048800"/>
            <a:ext cx="2669399" cy="360000"/>
          </a:xfrm>
          <a:prstGeom prst="roundRect">
            <a:avLst>
              <a:gd name="adj" fmla="val 50000"/>
            </a:avLst>
          </a:prstGeom>
          <a:solidFill>
            <a:srgbClr val="D9720C"/>
          </a:solidFill>
          <a:ln>
            <a:noFill/>
          </a:ln>
          <a:effectLst>
            <a:outerShdw blurRad="90000" dist="30000" dir="5400000" rotWithShape="0">
              <a:srgbClr val="6B7280">
                <a:alpha val="22000"/>
              </a:srgbClr>
            </a:outerShdw>
          </a:effectLst>
        </p:spPr>
        <p:txBody>
          <a:bodyPr lIns="18288" tIns="9144" rIns="18288" bIns="9144" anchor="ctr">
            <a:normAutofit/>
          </a:bodyPr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M7 Temporal Pair</a:t>
            </a:r>
          </a:p>
        </p:txBody>
      </p:sp>
      <p:sp>
        <p:nvSpPr>
          <p:cNvPr id="536" name="PhaseLbl536"/>
          <p:cNvSpPr txBox="1"/>
          <p:nvPr/>
        </p:nvSpPr>
        <p:spPr>
          <a:xfrm>
            <a:off x="304800" y="4518800"/>
            <a:ext cx="11277599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/>
            <a:r>
              <a:rPr lang="en-US" sz="1050" b="1" dirty="0">
                <a:solidFill>
                  <a:srgbClr val="1E8449"/>
                </a:solidFill>
                <a:latin typeface="Arial" pitchFamily="34" charset="0"/>
                <a:cs typeface="Arial" pitchFamily="34" charset="0"/>
              </a:rPr>
              <a:t>Phase 3 · Change Intelligence (M8–M11)</a:t>
            </a:r>
          </a:p>
        </p:txBody>
      </p:sp>
      <p:sp>
        <p:nvSpPr>
          <p:cNvPr id="537" name="Pill537"/>
          <p:cNvSpPr/>
          <p:nvPr/>
        </p:nvSpPr>
        <p:spPr>
          <a:xfrm>
            <a:off x="304800" y="4718800"/>
            <a:ext cx="2669399" cy="360000"/>
          </a:xfrm>
          <a:prstGeom prst="roundRect">
            <a:avLst>
              <a:gd name="adj" fmla="val 50000"/>
            </a:avLst>
          </a:prstGeom>
          <a:solidFill>
            <a:srgbClr val="1E8449"/>
          </a:solidFill>
          <a:ln>
            <a:noFill/>
          </a:ln>
          <a:effectLst>
            <a:outerShdw blurRad="90000" dist="30000" dir="5400000" rotWithShape="0">
              <a:srgbClr val="6B7280">
                <a:alpha val="22000"/>
              </a:srgbClr>
            </a:outerShdw>
          </a:effectLst>
        </p:spPr>
        <p:txBody>
          <a:bodyPr lIns="18288" tIns="9144" rIns="18288" bIns="9144" anchor="ctr">
            <a:normAutofit/>
          </a:bodyPr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M8 Change Detect</a:t>
            </a:r>
          </a:p>
        </p:txBody>
      </p:sp>
      <p:sp>
        <p:nvSpPr>
          <p:cNvPr id="538" name="Arr538"/>
          <p:cNvSpPr txBox="1"/>
          <p:nvPr/>
        </p:nvSpPr>
        <p:spPr>
          <a:xfrm>
            <a:off x="2974199" y="4718800"/>
            <a:ext cx="200000" cy="36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1E8449"/>
                </a:solidFill>
                <a:latin typeface="Arial" pitchFamily="34" charset="0"/>
                <a:cs typeface="Arial" pitchFamily="34" charset="0"/>
              </a:rPr>
              <a:t>→</a:t>
            </a:r>
          </a:p>
        </p:txBody>
      </p:sp>
      <p:sp>
        <p:nvSpPr>
          <p:cNvPr id="539" name="Pill539"/>
          <p:cNvSpPr/>
          <p:nvPr/>
        </p:nvSpPr>
        <p:spPr>
          <a:xfrm>
            <a:off x="3174199" y="4718800"/>
            <a:ext cx="2669399" cy="360000"/>
          </a:xfrm>
          <a:prstGeom prst="roundRect">
            <a:avLst>
              <a:gd name="adj" fmla="val 50000"/>
            </a:avLst>
          </a:prstGeom>
          <a:solidFill>
            <a:srgbClr val="1E8449"/>
          </a:solidFill>
          <a:ln>
            <a:noFill/>
          </a:ln>
          <a:effectLst>
            <a:outerShdw blurRad="90000" dist="30000" dir="5400000" rotWithShape="0">
              <a:srgbClr val="6B7280">
                <a:alpha val="22000"/>
              </a:srgbClr>
            </a:outerShdw>
          </a:effectLst>
        </p:spPr>
        <p:txBody>
          <a:bodyPr lIns="18288" tIns="9144" rIns="18288" bIns="9144" anchor="ctr">
            <a:normAutofit/>
          </a:bodyPr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M9 False-Alarm Sup.</a:t>
            </a:r>
          </a:p>
        </p:txBody>
      </p:sp>
      <p:sp>
        <p:nvSpPr>
          <p:cNvPr id="540" name="Arr540"/>
          <p:cNvSpPr txBox="1"/>
          <p:nvPr/>
        </p:nvSpPr>
        <p:spPr>
          <a:xfrm>
            <a:off x="5843598" y="4718800"/>
            <a:ext cx="200000" cy="36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1E8449"/>
                </a:solidFill>
                <a:latin typeface="Arial" pitchFamily="34" charset="0"/>
                <a:cs typeface="Arial" pitchFamily="34" charset="0"/>
              </a:rPr>
              <a:t>→</a:t>
            </a:r>
          </a:p>
        </p:txBody>
      </p:sp>
      <p:sp>
        <p:nvSpPr>
          <p:cNvPr id="541" name="Pill541"/>
          <p:cNvSpPr/>
          <p:nvPr/>
        </p:nvSpPr>
        <p:spPr>
          <a:xfrm>
            <a:off x="6043598" y="4718800"/>
            <a:ext cx="2669399" cy="360000"/>
          </a:xfrm>
          <a:prstGeom prst="roundRect">
            <a:avLst>
              <a:gd name="adj" fmla="val 50000"/>
            </a:avLst>
          </a:prstGeom>
          <a:solidFill>
            <a:srgbClr val="1E8449"/>
          </a:solidFill>
          <a:ln>
            <a:noFill/>
          </a:ln>
          <a:effectLst>
            <a:outerShdw blurRad="90000" dist="30000" dir="5400000" rotWithShape="0">
              <a:srgbClr val="6B7280">
                <a:alpha val="22000"/>
              </a:srgbClr>
            </a:outerShdw>
          </a:effectLst>
        </p:spPr>
        <p:txBody>
          <a:bodyPr lIns="18288" tIns="9144" rIns="18288" bIns="9144" anchor="ctr">
            <a:normAutofit/>
          </a:bodyPr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M10 Classification</a:t>
            </a:r>
          </a:p>
        </p:txBody>
      </p:sp>
      <p:sp>
        <p:nvSpPr>
          <p:cNvPr id="542" name="Arr542"/>
          <p:cNvSpPr txBox="1"/>
          <p:nvPr/>
        </p:nvSpPr>
        <p:spPr>
          <a:xfrm>
            <a:off x="8712997" y="4718800"/>
            <a:ext cx="200000" cy="36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1E8449"/>
                </a:solidFill>
                <a:latin typeface="Arial" pitchFamily="34" charset="0"/>
                <a:cs typeface="Arial" pitchFamily="34" charset="0"/>
              </a:rPr>
              <a:t>→</a:t>
            </a:r>
          </a:p>
        </p:txBody>
      </p:sp>
      <p:sp>
        <p:nvSpPr>
          <p:cNvPr id="543" name="Pill543"/>
          <p:cNvSpPr/>
          <p:nvPr/>
        </p:nvSpPr>
        <p:spPr>
          <a:xfrm>
            <a:off x="8912997" y="4718800"/>
            <a:ext cx="2669399" cy="360000"/>
          </a:xfrm>
          <a:prstGeom prst="roundRect">
            <a:avLst>
              <a:gd name="adj" fmla="val 50000"/>
            </a:avLst>
          </a:prstGeom>
          <a:solidFill>
            <a:srgbClr val="1E8449"/>
          </a:solidFill>
          <a:ln>
            <a:noFill/>
          </a:ln>
          <a:effectLst>
            <a:outerShdw blurRad="90000" dist="30000" dir="5400000" rotWithShape="0">
              <a:srgbClr val="6B7280">
                <a:alpha val="22000"/>
              </a:srgbClr>
            </a:outerShdw>
          </a:effectLst>
        </p:spPr>
        <p:txBody>
          <a:bodyPr lIns="18288" tIns="9144" rIns="18288" bIns="9144" anchor="ctr">
            <a:normAutofit/>
          </a:bodyPr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M11 Analyst UI</a:t>
            </a:r>
          </a:p>
        </p:txBody>
      </p:sp>
      <p:sp>
        <p:nvSpPr>
          <p:cNvPr id="544" name="PhaseLbl544"/>
          <p:cNvSpPr txBox="1"/>
          <p:nvPr/>
        </p:nvSpPr>
        <p:spPr>
          <a:xfrm>
            <a:off x="304800" y="5188800"/>
            <a:ext cx="11277599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/>
            <a:r>
              <a:rPr lang="en-US" sz="1050" b="1" dirty="0">
                <a:solidFill>
                  <a:srgbClr val="6C3483"/>
                </a:solidFill>
                <a:latin typeface="Arial" pitchFamily="34" charset="0"/>
                <a:cs typeface="Arial" pitchFamily="34" charset="0"/>
              </a:rPr>
              <a:t>Phase 4 · Trust &amp; Scale (M12–M15)</a:t>
            </a:r>
          </a:p>
        </p:txBody>
      </p:sp>
      <p:sp>
        <p:nvSpPr>
          <p:cNvPr id="545" name="Pill545"/>
          <p:cNvSpPr/>
          <p:nvPr/>
        </p:nvSpPr>
        <p:spPr>
          <a:xfrm>
            <a:off x="304800" y="5388800"/>
            <a:ext cx="2669399" cy="360000"/>
          </a:xfrm>
          <a:prstGeom prst="roundRect">
            <a:avLst>
              <a:gd name="adj" fmla="val 50000"/>
            </a:avLst>
          </a:prstGeom>
          <a:solidFill>
            <a:srgbClr val="6C3483"/>
          </a:solidFill>
          <a:ln>
            <a:noFill/>
          </a:ln>
          <a:effectLst>
            <a:outerShdw blurRad="90000" dist="30000" dir="5400000" rotWithShape="0">
              <a:srgbClr val="6B7280">
                <a:alpha val="22000"/>
              </a:srgbClr>
            </a:outerShdw>
          </a:effectLst>
        </p:spPr>
        <p:txBody>
          <a:bodyPr lIns="18288" tIns="9144" rIns="18288" bIns="9144" anchor="ctr">
            <a:normAutofit/>
          </a:bodyPr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M12 Site Discovery</a:t>
            </a:r>
          </a:p>
        </p:txBody>
      </p:sp>
      <p:sp>
        <p:nvSpPr>
          <p:cNvPr id="546" name="Arr546"/>
          <p:cNvSpPr txBox="1"/>
          <p:nvPr/>
        </p:nvSpPr>
        <p:spPr>
          <a:xfrm>
            <a:off x="2974199" y="5388800"/>
            <a:ext cx="200000" cy="36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6C3483"/>
                </a:solidFill>
                <a:latin typeface="Arial" pitchFamily="34" charset="0"/>
                <a:cs typeface="Arial" pitchFamily="34" charset="0"/>
              </a:rPr>
              <a:t>→</a:t>
            </a:r>
          </a:p>
        </p:txBody>
      </p:sp>
      <p:sp>
        <p:nvSpPr>
          <p:cNvPr id="547" name="Pill547"/>
          <p:cNvSpPr/>
          <p:nvPr/>
        </p:nvSpPr>
        <p:spPr>
          <a:xfrm>
            <a:off x="3174199" y="5388800"/>
            <a:ext cx="2669399" cy="360000"/>
          </a:xfrm>
          <a:prstGeom prst="roundRect">
            <a:avLst>
              <a:gd name="adj" fmla="val 50000"/>
            </a:avLst>
          </a:prstGeom>
          <a:solidFill>
            <a:srgbClr val="6C3483"/>
          </a:solidFill>
          <a:ln>
            <a:noFill/>
          </a:ln>
          <a:effectLst>
            <a:outerShdw blurRad="90000" dist="30000" dir="5400000" rotWithShape="0">
              <a:srgbClr val="6B7280">
                <a:alpha val="22000"/>
              </a:srgbClr>
            </a:outerShdw>
          </a:effectLst>
        </p:spPr>
        <p:txBody>
          <a:bodyPr lIns="18288" tIns="9144" rIns="18288" bIns="9144" anchor="ctr">
            <a:normAutofit/>
          </a:bodyPr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M13 Provenance+FB</a:t>
            </a:r>
          </a:p>
        </p:txBody>
      </p:sp>
      <p:sp>
        <p:nvSpPr>
          <p:cNvPr id="548" name="Arr548"/>
          <p:cNvSpPr txBox="1"/>
          <p:nvPr/>
        </p:nvSpPr>
        <p:spPr>
          <a:xfrm>
            <a:off x="5843598" y="5388800"/>
            <a:ext cx="200000" cy="36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6C3483"/>
                </a:solidFill>
                <a:latin typeface="Arial" pitchFamily="34" charset="0"/>
                <a:cs typeface="Arial" pitchFamily="34" charset="0"/>
              </a:rPr>
              <a:t>→</a:t>
            </a:r>
          </a:p>
        </p:txBody>
      </p:sp>
      <p:sp>
        <p:nvSpPr>
          <p:cNvPr id="549" name="Pill549"/>
          <p:cNvSpPr/>
          <p:nvPr/>
        </p:nvSpPr>
        <p:spPr>
          <a:xfrm>
            <a:off x="6043598" y="5388800"/>
            <a:ext cx="2669399" cy="360000"/>
          </a:xfrm>
          <a:prstGeom prst="roundRect">
            <a:avLst>
              <a:gd name="adj" fmla="val 50000"/>
            </a:avLst>
          </a:prstGeom>
          <a:solidFill>
            <a:srgbClr val="6C3483"/>
          </a:solidFill>
          <a:ln>
            <a:noFill/>
          </a:ln>
          <a:effectLst>
            <a:outerShdw blurRad="90000" dist="30000" dir="5400000" rotWithShape="0">
              <a:srgbClr val="6B7280">
                <a:alpha val="22000"/>
              </a:srgbClr>
            </a:outerShdw>
          </a:effectLst>
        </p:spPr>
        <p:txBody>
          <a:bodyPr lIns="18288" tIns="9144" rIns="18288" bIns="9144" anchor="ctr">
            <a:normAutofit/>
          </a:bodyPr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M14 Offline Package</a:t>
            </a:r>
          </a:p>
        </p:txBody>
      </p:sp>
      <p:sp>
        <p:nvSpPr>
          <p:cNvPr id="550" name="Arr550"/>
          <p:cNvSpPr txBox="1"/>
          <p:nvPr/>
        </p:nvSpPr>
        <p:spPr>
          <a:xfrm>
            <a:off x="8712997" y="5388800"/>
            <a:ext cx="200000" cy="36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6C3483"/>
                </a:solidFill>
                <a:latin typeface="Arial" pitchFamily="34" charset="0"/>
                <a:cs typeface="Arial" pitchFamily="34" charset="0"/>
              </a:rPr>
              <a:t>→</a:t>
            </a:r>
          </a:p>
        </p:txBody>
      </p:sp>
      <p:sp>
        <p:nvSpPr>
          <p:cNvPr id="551" name="Pill551"/>
          <p:cNvSpPr/>
          <p:nvPr/>
        </p:nvSpPr>
        <p:spPr>
          <a:xfrm>
            <a:off x="8912997" y="5388800"/>
            <a:ext cx="2669399" cy="360000"/>
          </a:xfrm>
          <a:prstGeom prst="roundRect">
            <a:avLst>
              <a:gd name="adj" fmla="val 50000"/>
            </a:avLst>
          </a:prstGeom>
          <a:solidFill>
            <a:srgbClr val="6C3483"/>
          </a:solidFill>
          <a:ln>
            <a:noFill/>
          </a:ln>
          <a:effectLst>
            <a:outerShdw blurRad="90000" dist="30000" dir="5400000" rotWithShape="0">
              <a:srgbClr val="6B7280">
                <a:alpha val="22000"/>
              </a:srgbClr>
            </a:outerShdw>
          </a:effectLst>
        </p:spPr>
        <p:txBody>
          <a:bodyPr lIns="18288" tIns="9144" rIns="18288" bIns="9144" anchor="ctr">
            <a:normAutofit/>
          </a:bodyPr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M15 Eval Report</a:t>
            </a:r>
          </a:p>
        </p:txBody>
      </p:sp>
      <p:sp>
        <p:nvSpPr>
          <p:cNvPr id="699" name="AccentRule699"/>
          <p:cNvSpPr/>
          <p:nvPr/>
        </p:nvSpPr>
        <p:spPr>
          <a:xfrm>
            <a:off x="5596000" y="1150000"/>
            <a:ext cx="1000000" cy="3000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FLUX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500" name="FeasCard"/>
          <p:cNvSpPr/>
          <p:nvPr/>
        </p:nvSpPr>
        <p:spPr>
          <a:xfrm>
            <a:off x="304800" y="1828800"/>
            <a:ext cx="11277599" cy="20200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>
            <a:outerShdw blurRad="90000" dist="30000" dir="5400000" rotWithShape="0">
              <a:srgbClr val="6B728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1" name="FeasCirc"/>
          <p:cNvSpPr/>
          <p:nvPr/>
        </p:nvSpPr>
        <p:spPr>
          <a:xfrm>
            <a:off x="454800" y="1938800"/>
            <a:ext cx="460000" cy="460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90000" dist="30000" dir="5400000" rotWithShape="0">
              <a:srgbClr val="6B7280">
                <a:alpha val="22000"/>
              </a:srgbClr>
            </a:outerShdw>
          </a:effectLst>
        </p:spPr>
        <p:txBody>
          <a:bodyPr lIns="0" tIns="0" rIns="0" bIns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1</a:t>
            </a:r>
          </a:p>
        </p:txBody>
      </p:sp>
      <p:sp>
        <p:nvSpPr>
          <p:cNvPr id="502" name="FeasHdr"/>
          <p:cNvSpPr txBox="1"/>
          <p:nvPr/>
        </p:nvSpPr>
        <p:spPr>
          <a:xfrm>
            <a:off x="1044800" y="1908800"/>
            <a:ext cx="10387599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en-US" sz="1500" b="1" dirty="0">
                <a:solidFill>
                  <a:srgbClr val="1B2A4A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</a:p>
        </p:txBody>
      </p:sp>
      <p:sp>
        <p:nvSpPr>
          <p:cNvPr id="503" name="FeasBody"/>
          <p:cNvSpPr txBox="1"/>
          <p:nvPr/>
        </p:nvSpPr>
        <p:spPr>
          <a:xfrm>
            <a:off x="1044800" y="2228800"/>
            <a:ext cx="10387599" cy="1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228600" indent="-228600">
              <a:spcAft>
                <a:spcPts val="28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Built on proven open components (EO foundation models, vector search, geospatial standards) — integration, not new invention</a:t>
            </a:r>
          </a:p>
          <a:p>
            <a:pPr marL="228600" indent="-228600">
              <a:spcAft>
                <a:spcPts val="28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Runs on a single on-prem GPU/CPU node; incremental indexing scales it to a full archive without a full rebuild</a:t>
            </a:r>
          </a:p>
          <a:p>
            <a:pPr marL="228600" indent="-228600">
              <a:spcAft>
                <a:spcPts val="28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Public imagery (Sentinel, Landsat, Bhuvan) + open-source software keep recurring cost near zero</a:t>
            </a:r>
          </a:p>
          <a:p>
            <a:pPr marL="228600" indent="-228600">
              <a:spcAft>
                <a:spcPts val="28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ISRO's new EOS-05 (launched 4 Sep 2026, GSLV-F17),  India's first geostationary hyperspectral imager, refreshes priority AOIs every 5 minutes; a live stream BhuNetra can ingest directly for continuous, not just archival, monitoring</a:t>
            </a:r>
          </a:p>
        </p:txBody>
      </p:sp>
      <p:sp>
        <p:nvSpPr>
          <p:cNvPr id="520" name="RiskCard520"/>
          <p:cNvSpPr/>
          <p:nvPr/>
        </p:nvSpPr>
        <p:spPr>
          <a:xfrm>
            <a:off x="304800" y="3998800"/>
            <a:ext cx="5563799" cy="1620000"/>
          </a:xfrm>
          <a:prstGeom prst="roundRect">
            <a:avLst>
              <a:gd name="adj" fmla="val 6000"/>
            </a:avLst>
          </a:prstGeom>
          <a:solidFill>
            <a:srgbClr val="FCEEE0"/>
          </a:solidFill>
          <a:ln>
            <a:noFill/>
          </a:ln>
          <a:effectLst>
            <a:outerShdw blurRad="90000" dist="30000" dir="5400000" rotWithShape="0">
              <a:srgbClr val="6B728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1" name="RiskCirc521"/>
          <p:cNvSpPr/>
          <p:nvPr/>
        </p:nvSpPr>
        <p:spPr>
          <a:xfrm>
            <a:off x="434800" y="4098800"/>
            <a:ext cx="420000" cy="420000"/>
          </a:xfrm>
          <a:prstGeom prst="ellipse">
            <a:avLst/>
          </a:prstGeom>
          <a:solidFill>
            <a:srgbClr val="D9720C"/>
          </a:solidFill>
          <a:ln>
            <a:noFill/>
          </a:ln>
          <a:effectLst>
            <a:outerShdw blurRad="90000" dist="30000" dir="5400000" rotWithShape="0">
              <a:srgbClr val="6B7280">
                <a:alpha val="22000"/>
              </a:srgbClr>
            </a:outerShdw>
          </a:effectLst>
        </p:spPr>
        <p:txBody>
          <a:bodyPr lIns="0" tIns="0" rIns="0" bIns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!</a:t>
            </a:r>
          </a:p>
        </p:txBody>
      </p:sp>
      <p:sp>
        <p:nvSpPr>
          <p:cNvPr id="522" name="RiskHdr522"/>
          <p:cNvSpPr txBox="1"/>
          <p:nvPr/>
        </p:nvSpPr>
        <p:spPr>
          <a:xfrm>
            <a:off x="964800" y="4078800"/>
            <a:ext cx="4773799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en-US" sz="1300" b="1" dirty="0">
                <a:solidFill>
                  <a:srgbClr val="1B2A4A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</p:txBody>
      </p:sp>
      <p:sp>
        <p:nvSpPr>
          <p:cNvPr id="523" name="RiskBody523"/>
          <p:cNvSpPr txBox="1"/>
          <p:nvPr/>
        </p:nvSpPr>
        <p:spPr>
          <a:xfrm>
            <a:off x="964801" y="4388800"/>
            <a:ext cx="4182234" cy="1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 fontScale="92500" lnSpcReduction="10000"/>
          </a:bodyPr>
          <a:lstStyle/>
          <a:p>
            <a:pPr marL="228600" indent="-228600"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Clouds, shadows &amp; seasonal shifts can mimic real change</a:t>
            </a:r>
          </a:p>
          <a:p>
            <a:pPr marL="228600" indent="-228600"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SAR speckle and sensor gaps add noisy, inconsistent signals</a:t>
            </a:r>
          </a:p>
          <a:p>
            <a:pPr marL="228600" indent="-228600"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Mis-registration creates false edges; limited local GPU slows inference</a:t>
            </a:r>
          </a:p>
        </p:txBody>
      </p:sp>
      <p:sp>
        <p:nvSpPr>
          <p:cNvPr id="524" name="RiskCard524"/>
          <p:cNvSpPr/>
          <p:nvPr/>
        </p:nvSpPr>
        <p:spPr>
          <a:xfrm>
            <a:off x="6018599" y="3998800"/>
            <a:ext cx="5563799" cy="1620000"/>
          </a:xfrm>
          <a:prstGeom prst="roundRect">
            <a:avLst>
              <a:gd name="adj" fmla="val 6000"/>
            </a:avLst>
          </a:prstGeom>
          <a:solidFill>
            <a:srgbClr val="E8F5EC"/>
          </a:solidFill>
          <a:ln>
            <a:noFill/>
          </a:ln>
          <a:effectLst>
            <a:outerShdw blurRad="90000" dist="30000" dir="5400000" rotWithShape="0">
              <a:srgbClr val="6B728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5" name="RiskCirc525"/>
          <p:cNvSpPr/>
          <p:nvPr/>
        </p:nvSpPr>
        <p:spPr>
          <a:xfrm>
            <a:off x="6148599" y="4098800"/>
            <a:ext cx="420000" cy="420000"/>
          </a:xfrm>
          <a:prstGeom prst="ellipse">
            <a:avLst/>
          </a:prstGeom>
          <a:solidFill>
            <a:srgbClr val="1E8449"/>
          </a:solidFill>
          <a:ln>
            <a:noFill/>
          </a:ln>
          <a:effectLst>
            <a:outerShdw blurRad="90000" dist="30000" dir="5400000" rotWithShape="0">
              <a:srgbClr val="6B7280">
                <a:alpha val="22000"/>
              </a:srgbClr>
            </a:outerShdw>
          </a:effectLst>
        </p:spPr>
        <p:txBody>
          <a:bodyPr lIns="0" tIns="0" rIns="0" bIns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✓</a:t>
            </a:r>
          </a:p>
        </p:txBody>
      </p:sp>
      <p:sp>
        <p:nvSpPr>
          <p:cNvPr id="526" name="RiskHdr526"/>
          <p:cNvSpPr txBox="1"/>
          <p:nvPr/>
        </p:nvSpPr>
        <p:spPr>
          <a:xfrm>
            <a:off x="6678599" y="4078800"/>
            <a:ext cx="4773799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en-US" sz="1300" b="1" dirty="0">
                <a:solidFill>
                  <a:srgbClr val="1B2A4A"/>
                </a:solidFill>
                <a:latin typeface="Arial" pitchFamily="34" charset="0"/>
                <a:cs typeface="Arial" pitchFamily="34" charset="0"/>
              </a:rPr>
              <a:t>Strategies for overcoming these challenges</a:t>
            </a:r>
          </a:p>
        </p:txBody>
      </p:sp>
      <p:sp>
        <p:nvSpPr>
          <p:cNvPr id="527" name="RiskBody527"/>
          <p:cNvSpPr txBox="1"/>
          <p:nvPr/>
        </p:nvSpPr>
        <p:spPr>
          <a:xfrm>
            <a:off x="6678600" y="4388800"/>
            <a:ext cx="4237640" cy="1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 fontScale="92500" lnSpcReduction="10000"/>
          </a:bodyPr>
          <a:lstStyle/>
          <a:p>
            <a:pPr marL="228600" indent="-228600"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Quality masks + confidence scoring filter seasonal/atmospheric noise</a:t>
            </a:r>
          </a:p>
          <a:p>
            <a:pPr marL="228600" indent="-228600"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Sensor-aware (SAR vs optical) processing paths handle each source correctly</a:t>
            </a:r>
          </a:p>
          <a:p>
            <a:pPr marL="228600" indent="-228600"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Co-registration + right-sized models + human-in-the-loop review keep precision high</a:t>
            </a:r>
          </a:p>
        </p:txBody>
      </p:sp>
      <p:sp>
        <p:nvSpPr>
          <p:cNvPr id="699" name="AccentRule699"/>
          <p:cNvSpPr/>
          <p:nvPr/>
        </p:nvSpPr>
        <p:spPr>
          <a:xfrm>
            <a:off x="5596000" y="1150000"/>
            <a:ext cx="1000000" cy="3000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FLUX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500" name="ImpactCard"/>
          <p:cNvSpPr/>
          <p:nvPr/>
        </p:nvSpPr>
        <p:spPr>
          <a:xfrm>
            <a:off x="304800" y="1828800"/>
            <a:ext cx="11277599" cy="13500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>
            <a:outerShdw blurRad="90000" dist="30000" dir="5400000" rotWithShape="0">
              <a:srgbClr val="6B728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1" name="ImpactCirc"/>
          <p:cNvSpPr/>
          <p:nvPr/>
        </p:nvSpPr>
        <p:spPr>
          <a:xfrm>
            <a:off x="454800" y="2263800"/>
            <a:ext cx="480000" cy="480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90000" dist="30000" dir="5400000" rotWithShape="0">
              <a:srgbClr val="6B7280">
                <a:alpha val="22000"/>
              </a:srgbClr>
            </a:outerShdw>
          </a:effectLst>
        </p:spPr>
        <p:txBody>
          <a:bodyPr lIns="0" tIns="0" rIns="0" bIns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1</a:t>
            </a:r>
          </a:p>
        </p:txBody>
      </p:sp>
      <p:sp>
        <p:nvSpPr>
          <p:cNvPr id="502" name="ImpactHdr"/>
          <p:cNvSpPr txBox="1"/>
          <p:nvPr/>
        </p:nvSpPr>
        <p:spPr>
          <a:xfrm>
            <a:off x="1064800" y="1918800"/>
            <a:ext cx="10367599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en-US" sz="1600" b="1" dirty="0">
                <a:solidFill>
                  <a:srgbClr val="1B2A4A"/>
                </a:solidFill>
                <a:latin typeface="Arial" pitchFamily="34" charset="0"/>
                <a:cs typeface="Arial" pitchFamily="34" charset="0"/>
              </a:rPr>
              <a:t>Potential impact on the target audience</a:t>
            </a:r>
          </a:p>
        </p:txBody>
      </p:sp>
      <p:sp>
        <p:nvSpPr>
          <p:cNvPr id="503" name="ImpactBody"/>
          <p:cNvSpPr txBox="1"/>
          <p:nvPr/>
        </p:nvSpPr>
        <p:spPr>
          <a:xfrm>
            <a:off x="1064800" y="2248800"/>
            <a:ext cx="10367599" cy="8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228600" indent="-2286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Analysts move from ‘search → inspect → compare’ to ‘ask → retrieve → verify’</a:t>
            </a:r>
          </a:p>
          <a:p>
            <a:pPr marL="228600" indent="-2286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Cuts manual scene-review time from days to minutes per AOI</a:t>
            </a:r>
          </a:p>
        </p:txBody>
      </p:sp>
      <p:sp>
        <p:nvSpPr>
          <p:cNvPr id="504" name="BenHdrLbl"/>
          <p:cNvSpPr txBox="1"/>
          <p:nvPr/>
        </p:nvSpPr>
        <p:spPr>
          <a:xfrm>
            <a:off x="304800" y="3338800"/>
            <a:ext cx="11277599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en-US" sz="1600" b="1" dirty="0">
                <a:solidFill>
                  <a:srgbClr val="1B2A4A"/>
                </a:solidFill>
                <a:latin typeface="Arial" pitchFamily="34" charset="0"/>
                <a:cs typeface="Arial" pitchFamily="34" charset="0"/>
              </a:rPr>
              <a:t>Benefits of the solution</a:t>
            </a:r>
          </a:p>
        </p:txBody>
      </p:sp>
      <p:sp>
        <p:nvSpPr>
          <p:cNvPr id="520" name="Mini520"/>
          <p:cNvSpPr/>
          <p:nvPr/>
        </p:nvSpPr>
        <p:spPr>
          <a:xfrm>
            <a:off x="304800" y="3758800"/>
            <a:ext cx="3659199" cy="15500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>
            <a:outerShdw blurRad="90000" dist="30000" dir="5400000" rotWithShape="0">
              <a:srgbClr val="6B728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1" name="MiniCirc521"/>
          <p:cNvSpPr/>
          <p:nvPr/>
        </p:nvSpPr>
        <p:spPr>
          <a:xfrm>
            <a:off x="1914399" y="3868800"/>
            <a:ext cx="440000" cy="440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90000" dist="30000" dir="5400000" rotWithShape="0">
              <a:srgbClr val="6B7280">
                <a:alpha val="22000"/>
              </a:srgbClr>
            </a:outerShdw>
          </a:effectLst>
        </p:spPr>
        <p:txBody>
          <a:bodyPr lIns="0" tIns="0" rIns="0" bIns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S</a:t>
            </a:r>
          </a:p>
        </p:txBody>
      </p:sp>
      <p:sp>
        <p:nvSpPr>
          <p:cNvPr id="522" name="MiniTitle522"/>
          <p:cNvSpPr txBox="1"/>
          <p:nvPr/>
        </p:nvSpPr>
        <p:spPr>
          <a:xfrm>
            <a:off x="394800" y="4378800"/>
            <a:ext cx="3479199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ctr"/>
            <a:r>
              <a:rPr lang="en-US" sz="1350" b="1" dirty="0">
                <a:solidFill>
                  <a:srgbClr val="1B2A4A"/>
                </a:solidFill>
                <a:latin typeface="Arial" pitchFamily="34" charset="0"/>
                <a:cs typeface="Arial" pitchFamily="34" charset="0"/>
              </a:rPr>
              <a:t>Social</a:t>
            </a:r>
          </a:p>
        </p:txBody>
      </p:sp>
      <p:sp>
        <p:nvSpPr>
          <p:cNvPr id="523" name="MiniDesc523"/>
          <p:cNvSpPr txBox="1"/>
          <p:nvPr/>
        </p:nvSpPr>
        <p:spPr>
          <a:xfrm>
            <a:off x="394800" y="4658800"/>
            <a:ext cx="3479199" cy="5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ctr"/>
            <a:r>
              <a:rPr lang="en-US" sz="11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Faster disaster response &amp; consistent evidence-based monitoring</a:t>
            </a:r>
          </a:p>
        </p:txBody>
      </p:sp>
      <p:sp>
        <p:nvSpPr>
          <p:cNvPr id="524" name="Mini524"/>
          <p:cNvSpPr/>
          <p:nvPr/>
        </p:nvSpPr>
        <p:spPr>
          <a:xfrm>
            <a:off x="4113999" y="3758800"/>
            <a:ext cx="3659199" cy="1550000"/>
          </a:xfrm>
          <a:prstGeom prst="roundRect">
            <a:avLst>
              <a:gd name="adj" fmla="val 6000"/>
            </a:avLst>
          </a:prstGeom>
          <a:solidFill>
            <a:srgbClr val="FCEEE0"/>
          </a:solidFill>
          <a:ln>
            <a:noFill/>
          </a:ln>
          <a:effectLst>
            <a:outerShdw blurRad="90000" dist="30000" dir="5400000" rotWithShape="0">
              <a:srgbClr val="6B728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5" name="MiniCirc525"/>
          <p:cNvSpPr/>
          <p:nvPr/>
        </p:nvSpPr>
        <p:spPr>
          <a:xfrm>
            <a:off x="5723598" y="3868800"/>
            <a:ext cx="440000" cy="440000"/>
          </a:xfrm>
          <a:prstGeom prst="ellipse">
            <a:avLst/>
          </a:prstGeom>
          <a:solidFill>
            <a:srgbClr val="D9720C"/>
          </a:solidFill>
          <a:ln>
            <a:noFill/>
          </a:ln>
          <a:effectLst>
            <a:outerShdw blurRad="90000" dist="30000" dir="5400000" rotWithShape="0">
              <a:srgbClr val="6B7280">
                <a:alpha val="22000"/>
              </a:srgbClr>
            </a:outerShdw>
          </a:effectLst>
        </p:spPr>
        <p:txBody>
          <a:bodyPr lIns="0" tIns="0" rIns="0" bIns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E</a:t>
            </a:r>
          </a:p>
        </p:txBody>
      </p:sp>
      <p:sp>
        <p:nvSpPr>
          <p:cNvPr id="526" name="MiniTitle526"/>
          <p:cNvSpPr txBox="1"/>
          <p:nvPr/>
        </p:nvSpPr>
        <p:spPr>
          <a:xfrm>
            <a:off x="4203999" y="4378800"/>
            <a:ext cx="3479199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ctr"/>
            <a:r>
              <a:rPr lang="en-US" sz="1350" b="1" dirty="0">
                <a:solidFill>
                  <a:srgbClr val="1B2A4A"/>
                </a:solidFill>
                <a:latin typeface="Arial" pitchFamily="34" charset="0"/>
                <a:cs typeface="Arial" pitchFamily="34" charset="0"/>
              </a:rPr>
              <a:t>Economic</a:t>
            </a:r>
          </a:p>
        </p:txBody>
      </p:sp>
      <p:sp>
        <p:nvSpPr>
          <p:cNvPr id="527" name="MiniDesc527"/>
          <p:cNvSpPr txBox="1"/>
          <p:nvPr/>
        </p:nvSpPr>
        <p:spPr>
          <a:xfrm>
            <a:off x="4203999" y="4658800"/>
            <a:ext cx="3479199" cy="5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ctr"/>
            <a:r>
              <a:rPr lang="en-US" sz="11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Open imagery + open-source stack lowers cost; no full re-index needed</a:t>
            </a:r>
          </a:p>
        </p:txBody>
      </p:sp>
      <p:sp>
        <p:nvSpPr>
          <p:cNvPr id="528" name="Mini528"/>
          <p:cNvSpPr/>
          <p:nvPr/>
        </p:nvSpPr>
        <p:spPr>
          <a:xfrm>
            <a:off x="7923198" y="3758800"/>
            <a:ext cx="3659199" cy="1550000"/>
          </a:xfrm>
          <a:prstGeom prst="roundRect">
            <a:avLst>
              <a:gd name="adj" fmla="val 6000"/>
            </a:avLst>
          </a:prstGeom>
          <a:solidFill>
            <a:srgbClr val="E8F5EC"/>
          </a:solidFill>
          <a:ln>
            <a:noFill/>
          </a:ln>
          <a:effectLst>
            <a:outerShdw blurRad="90000" dist="30000" dir="5400000" rotWithShape="0">
              <a:srgbClr val="6B728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9" name="MiniCirc529"/>
          <p:cNvSpPr/>
          <p:nvPr/>
        </p:nvSpPr>
        <p:spPr>
          <a:xfrm>
            <a:off x="9532797" y="3868800"/>
            <a:ext cx="440000" cy="440000"/>
          </a:xfrm>
          <a:prstGeom prst="ellipse">
            <a:avLst/>
          </a:prstGeom>
          <a:solidFill>
            <a:srgbClr val="1E8449"/>
          </a:solidFill>
          <a:ln>
            <a:noFill/>
          </a:ln>
          <a:effectLst>
            <a:outerShdw blurRad="90000" dist="30000" dir="5400000" rotWithShape="0">
              <a:srgbClr val="6B7280">
                <a:alpha val="22000"/>
              </a:srgbClr>
            </a:outerShdw>
          </a:effectLst>
        </p:spPr>
        <p:txBody>
          <a:bodyPr lIns="0" tIns="0" rIns="0" bIns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N</a:t>
            </a:r>
          </a:p>
        </p:txBody>
      </p:sp>
      <p:sp>
        <p:nvSpPr>
          <p:cNvPr id="530" name="MiniTitle530"/>
          <p:cNvSpPr txBox="1"/>
          <p:nvPr/>
        </p:nvSpPr>
        <p:spPr>
          <a:xfrm>
            <a:off x="8013198" y="4378800"/>
            <a:ext cx="3479199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ctr"/>
            <a:r>
              <a:rPr lang="en-US" sz="1350" b="1" dirty="0">
                <a:solidFill>
                  <a:srgbClr val="1B2A4A"/>
                </a:solidFill>
                <a:latin typeface="Arial" pitchFamily="34" charset="0"/>
                <a:cs typeface="Arial" pitchFamily="34" charset="0"/>
              </a:rPr>
              <a:t>Environmental</a:t>
            </a:r>
          </a:p>
        </p:txBody>
      </p:sp>
      <p:sp>
        <p:nvSpPr>
          <p:cNvPr id="531" name="MiniDesc531"/>
          <p:cNvSpPr txBox="1"/>
          <p:nvPr/>
        </p:nvSpPr>
        <p:spPr>
          <a:xfrm>
            <a:off x="8013198" y="4658800"/>
            <a:ext cx="3479199" cy="5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ctr"/>
            <a:r>
              <a:rPr lang="en-US" sz="11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Supports land, water &amp; vegetation monitoring — less physical recon</a:t>
            </a:r>
          </a:p>
        </p:txBody>
      </p:sp>
      <p:sp>
        <p:nvSpPr>
          <p:cNvPr id="699" name="AccentRule699"/>
          <p:cNvSpPr/>
          <p:nvPr/>
        </p:nvSpPr>
        <p:spPr>
          <a:xfrm>
            <a:off x="5596000" y="1150000"/>
            <a:ext cx="1000000" cy="3000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FLUX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500" name="RefCard"/>
          <p:cNvSpPr/>
          <p:nvPr/>
        </p:nvSpPr>
        <p:spPr>
          <a:xfrm>
            <a:off x="304800" y="1828800"/>
            <a:ext cx="11277599" cy="28000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>
            <a:outerShdw blurRad="90000" dist="30000" dir="5400000" rotWithShape="0">
              <a:srgbClr val="6B728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1" name="RefCirc"/>
          <p:cNvSpPr/>
          <p:nvPr/>
        </p:nvSpPr>
        <p:spPr>
          <a:xfrm>
            <a:off x="454800" y="1948800"/>
            <a:ext cx="480000" cy="480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90000" dist="30000" dir="5400000" rotWithShape="0">
              <a:srgbClr val="6B7280">
                <a:alpha val="22000"/>
              </a:srgbClr>
            </a:outerShdw>
          </a:effectLst>
        </p:spPr>
        <p:txBody>
          <a:bodyPr lIns="0" tIns="0" rIns="0" bIns="0" anchor="ctr"/>
          <a:lstStyle/>
          <a:p>
            <a:pPr algn="ctr"/>
            <a:endParaRPr lang="en-US" sz="1600" b="1" dirty="0">
              <a:solidFill>
                <a:srgbClr val="FFFFFF"/>
              </a:solidFill>
              <a:latin typeface="Arial" pitchFamily="34" charset="0"/>
              <a:cs typeface="Arial" pitchFamily="34" charset="0"/>
            </a:endParaRPr>
          </a:p>
          <a:p>
            <a:pPr algn="ctr"/>
            <a:endParaRPr lang="en-US" sz="1600" b="1" dirty="0">
              <a:solidFill>
                <a:srgbClr val="FFFF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02" name="RefHdr"/>
          <p:cNvSpPr txBox="1"/>
          <p:nvPr/>
        </p:nvSpPr>
        <p:spPr>
          <a:xfrm>
            <a:off x="1064800" y="1918800"/>
            <a:ext cx="10367599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en-US" sz="1600" b="1" dirty="0">
                <a:solidFill>
                  <a:srgbClr val="1B2A4A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</a:p>
        </p:txBody>
      </p:sp>
      <p:sp>
        <p:nvSpPr>
          <p:cNvPr id="503" name="RefBody"/>
          <p:cNvSpPr txBox="1"/>
          <p:nvPr/>
        </p:nvSpPr>
        <p:spPr>
          <a:xfrm>
            <a:off x="1064800" y="2228800"/>
            <a:ext cx="10367599" cy="2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228600" indent="-228600">
              <a:spcAft>
                <a:spcPts val="22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Clay Foundation Model v1.5 — multi-sensor (S1/S2/Landsat) EO embeddings, Clay Foundation (2024) — github.com/Clay-foundation/model</a:t>
            </a:r>
          </a:p>
          <a:p>
            <a:pPr marL="228600" indent="-228600">
              <a:spcAft>
                <a:spcPts val="22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Prithvi-EO-2.0 — multi-temporal EO foundation model, IBM/NASA — arXiv:2412.02732</a:t>
            </a:r>
          </a:p>
          <a:p>
            <a:pPr marL="228600" indent="-228600">
              <a:spcAft>
                <a:spcPts val="22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SatCLIP — global location-image-text embeddings, Klemmer et al., AAAI 2025</a:t>
            </a:r>
          </a:p>
          <a:p>
            <a:pPr marL="228600" indent="-228600">
              <a:spcAft>
                <a:spcPts val="22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Blumenstiel et al., “Multi-Spectral Remote Sensing Image Retrieval Using Geospatial Foundation Models,” 2024</a:t>
            </a:r>
          </a:p>
          <a:p>
            <a:pPr marL="228600" indent="-228600">
              <a:spcAft>
                <a:spcPts val="22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Copernicus Sentinel-1/2 Open Data · USGS Landsat Collection 2 · ISRO/NRSC Bhuvan Open EO Data</a:t>
            </a:r>
          </a:p>
          <a:p>
            <a:pPr marL="228600" indent="-228600">
              <a:spcAft>
                <a:spcPts val="22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ISRO EOS-05 (GISAT-1A) — India's first geostationary hyperspectral imager, launched 4 Sep 2026 on GSLV-F17; 5-min priority-AOI refresh (ISRO press briefing, Sep 2026)</a:t>
            </a:r>
          </a:p>
        </p:txBody>
      </p:sp>
      <p:sp>
        <p:nvSpPr>
          <p:cNvPr id="590" name="TagCard"/>
          <p:cNvSpPr/>
          <p:nvPr/>
        </p:nvSpPr>
        <p:spPr>
          <a:xfrm>
            <a:off x="304800" y="4878800"/>
            <a:ext cx="11277599" cy="7000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91" name="TagText"/>
          <p:cNvSpPr txBox="1"/>
          <p:nvPr/>
        </p:nvSpPr>
        <p:spPr>
          <a:xfrm>
            <a:off x="604800" y="4878800"/>
            <a:ext cx="10677599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/>
            <a:r>
              <a:rPr lang="en-US" sz="1500" dirty="0">
                <a:solidFill>
                  <a:srgbClr val="1B2A4A"/>
                </a:solidFill>
                <a:latin typeface="Arial" pitchFamily="34" charset="0"/>
                <a:cs typeface="Arial" pitchFamily="34" charset="0"/>
              </a:rPr>
              <a:t>“The system does not replace the analyst — it reduces the search space and supplies the evidence for their decision.”</a:t>
            </a:r>
          </a:p>
        </p:txBody>
      </p:sp>
      <p:sp>
        <p:nvSpPr>
          <p:cNvPr id="699" name="AccentRule699"/>
          <p:cNvSpPr/>
          <p:nvPr/>
        </p:nvSpPr>
        <p:spPr>
          <a:xfrm>
            <a:off x="5596000" y="1150000"/>
            <a:ext cx="1000000" cy="3000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FLUX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8927</TotalTime>
  <Words>769</Words>
  <Application>Microsoft Office PowerPoint</Application>
  <PresentationFormat>Widescreen</PresentationFormat>
  <Paragraphs>124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Deep K</cp:lastModifiedBy>
  <cp:revision>150</cp:revision>
  <dcterms:created xsi:type="dcterms:W3CDTF">2013-12-12T18:46:50Z</dcterms:created>
  <dcterms:modified xsi:type="dcterms:W3CDTF">2026-09-23T09:46:14Z</dcterms:modified>
  <cp:category/>
</cp:coreProperties>
</file>